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43F5E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B82F6"/>
                </a:solidFill>
              </a:rPr>
              <a:t>WorkBuddy Skill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以人为本的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数据安全运营方法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基于《央国企总部数据安全策略设计》的工程化实现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v2.1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github.com/LiuKai-DS/data-security-policy-generator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/ 22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核心理念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策略是死的，人是活的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策略 ≠ 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策略只是工具，运营才是核心。再好的策略不运营就是废纸。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以人为本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从人的行为出发设计策略，不是从数据出发。先管住人，再管数据。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三阶段递进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前期建基线 → 中期精细化 → 后期精准化。阶段不同，策略不同。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风险偏好驱动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3749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不同管控风格（激进/平衡/保守）决定策略动作上限，策略必须适配组织文化。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三阶段策略设计框架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粗 → 细 → 精准，逐步收敛数据安全风险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2743200" cy="1371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087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第一阶段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行为管控策略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</a:rPr>
              <a:t>快速摸底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只要行为是恶意的，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就视为有风险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331 条通用策略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R/L/A/C/X/S 六类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企业无防护 / 项目前期 / 快速见效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0" y="2926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91840" y="12801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1280160"/>
            <a:ext cx="27432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15087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第二阶段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业务数据策略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8328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精细化运营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2606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提炼企业实际业务数据，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针对性监控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4747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13 个部门关键字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39319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制药/半导体/能源/金融等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43891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已有基础管控 / 需精细化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2926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217920" y="12801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1280160"/>
            <a:ext cx="274320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9360" y="15087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第三阶段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融合策略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936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精准定位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2606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行为+内容都为敏感，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才视为违规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34747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200 条融合规则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39319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行为×内容双维度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43891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需找真实泄露源 / 运营机制完善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第一阶段：6 种策略类型详解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331 条通用行为策略，覆盖所有常见数据泄露路径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91440" cy="17373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89888"/>
            <a:ext cx="502920" cy="5029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4447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规则型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时间/频率/通道条件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基于行为特征的规则触发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示例：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非工作时间外发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异常频率外发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私发个人邮箱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280160"/>
            <a:ext cx="91440" cy="1737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1389888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23360" y="14447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限制型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软件/设备/协议检测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禁止特定工具或通道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286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示例：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VPN软件检测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代理工具检测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远程控制软件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2801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280160"/>
            <a:ext cx="91440" cy="1737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1389888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14447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访问型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权限/批量行为检测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异常访问模式识别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2286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示例：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批量下载检测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权限外数据访问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共享账号检测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004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3200400"/>
            <a:ext cx="91440" cy="1737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3310128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3000" y="33649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内容型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关键字/正则/文件类型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数据内容直接匹配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示例：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身份证号正则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银行卡号正则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邮箱地址正则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46120" y="32004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3246120" y="3200400"/>
            <a:ext cx="91440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3429000" y="331012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342900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X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023360" y="33649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上下文型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02336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组合条件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多字段联合判断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8328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示例：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8328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身份证+姓名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手机号+地址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银行卡+持卡人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32004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46" name="Shape 44"/>
          <p:cNvSpPr/>
          <p:nvPr/>
        </p:nvSpPr>
        <p:spPr>
          <a:xfrm>
            <a:off x="6126480" y="3200400"/>
            <a:ext cx="91440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7" name="Shape 45"/>
          <p:cNvSpPr/>
          <p:nvPr/>
        </p:nvSpPr>
        <p:spPr>
          <a:xfrm>
            <a:off x="6309360" y="331012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03720" y="33649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敏感行为型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0372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规避检测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试图绕过管控的行为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6364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示例：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6364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压缩深度检测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扩展名伪装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隐藏文件发送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策略示例：规则型（R）行为管控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基于时间、频率、通道等条件触发，不区分数据类型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640080" cy="3200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编号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1645920" cy="3200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场景名称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188720" cy="3200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88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触发条件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188720"/>
            <a:ext cx="822960" cy="3200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188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适用部门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731520" cy="3200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188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数据级别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1188720"/>
            <a:ext cx="1371600" cy="3200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188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建议动作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188720"/>
            <a:ext cx="1097280" cy="3200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法规依据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508760"/>
            <a:ext cx="6400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508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R001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14400" y="1508760"/>
            <a:ext cx="16459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1508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非工作时间外发敏感文件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0" y="1508760"/>
            <a:ext cx="11887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1508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22:00 - 06:00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49040" y="1508760"/>
            <a:ext cx="822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15087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通用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1508760"/>
            <a:ext cx="7315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508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L4/L3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03520" y="1508760"/>
            <a:ext cx="1371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1508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阻断（激进）/ 审批（平衡）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75120" y="1508760"/>
            <a:ext cx="10972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15087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《劳动法》工时划分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05740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057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R002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14400" y="20574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2057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异常频率外发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0" y="205740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2057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30min内外发&gt;10次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49040" y="2057400"/>
            <a:ext cx="822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2057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通用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0" y="2057400"/>
            <a:ext cx="731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03520" y="20574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2057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阻断（激进）/ 审批（平衡）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75120" y="205740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2057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《数据安全法》第21条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2606040"/>
            <a:ext cx="6400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2606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R003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2606040"/>
            <a:ext cx="16459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非常用通道传输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0" y="2606040"/>
            <a:ext cx="11887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06040" y="2606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非白名单IM工具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749040" y="2606040"/>
            <a:ext cx="822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94760" y="2606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通用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0" y="2606040"/>
            <a:ext cx="7315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2606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L4/L3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03520" y="2606040"/>
            <a:ext cx="1371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4924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阻断 / 审批+告警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675120" y="2606040"/>
            <a:ext cx="10972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2606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《网络安全法》第27条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74320" y="315468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R004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14400" y="31546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0120" y="3154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私发个人邮箱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0" y="315468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0604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发送至个人邮箱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749040" y="3154680"/>
            <a:ext cx="822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94760" y="3154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通用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572000" y="3154680"/>
            <a:ext cx="731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17720" y="3154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L4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303520" y="315468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49240" y="31546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阻断（激进）/ 审批（平衡）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675120" y="315468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0840" y="3154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《个人信息保护法》第29条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74320" y="3703320"/>
            <a:ext cx="6400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37033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R005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14400" y="3703320"/>
            <a:ext cx="16459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0120" y="3703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外部云盘上传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560320" y="3703320"/>
            <a:ext cx="11887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06040" y="3703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未授权云盘URL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749040" y="3703320"/>
            <a:ext cx="822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94760" y="3703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通用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572000" y="3703320"/>
            <a:ext cx="7315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17720" y="3703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L4/L3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303520" y="3703320"/>
            <a:ext cx="1371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49240" y="3703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阻断 / 审批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675120" y="3703320"/>
            <a:ext cx="10972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720840" y="3703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《数据安全法》第31条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74320" y="425196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" y="4251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R011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14400" y="42519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60120" y="4251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频繁邮件外发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560320" y="425196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06040" y="4251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&gt;20次/小时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749040" y="4251960"/>
            <a:ext cx="822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794760" y="4251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采购/销售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572000" y="4251960"/>
            <a:ext cx="731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17720" y="4251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303520" y="42519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349240" y="4251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审批+告警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675120" y="425196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720840" y="4251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制造业业务基线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22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策略示例：内容型（C）敏感信息检测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基于正则表达式匹配，直接识别敏感数据类型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486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编号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188720"/>
            <a:ext cx="10058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数据类型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188720"/>
            <a:ext cx="475488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正则表达式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1188720"/>
            <a:ext cx="82296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188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数据级别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06640" y="1188720"/>
            <a:ext cx="128016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188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法规依据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508760"/>
            <a:ext cx="54864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508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C001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" y="1508760"/>
            <a:ext cx="100584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身份证号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0" y="1508760"/>
            <a:ext cx="47548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1508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[1-9]\d{5}(?:19|20)\d{2}(?:0[1-9]|1[0-2])(?:0[1-9]|[12]\d|3[01])\d{3}[\dXx]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583680" y="1508760"/>
            <a:ext cx="822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5087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L3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06640" y="1508760"/>
            <a:ext cx="12801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508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《个人信息保护法》第28条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1947672"/>
            <a:ext cx="548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947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C002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22960" y="1947672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194767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手机号码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1947672"/>
            <a:ext cx="4754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4520" y="19476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1[3-9]\d{9}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583680" y="1947672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194767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L3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06640" y="1947672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194767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《个人信息保护法》第28条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2386584"/>
            <a:ext cx="54864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38658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C003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386584"/>
            <a:ext cx="100584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2386584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银行卡号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28800" y="2386584"/>
            <a:ext cx="47548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74520" y="238658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[1-9]\d{12,18}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583680" y="2386584"/>
            <a:ext cx="822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2386584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L3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06640" y="2386584"/>
            <a:ext cx="12801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238658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《个人信息保护法》第28条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2825496"/>
            <a:ext cx="548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8254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C004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22960" y="2825496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282549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邮箱地址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828800" y="2825496"/>
            <a:ext cx="4754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74520" y="282549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[a-zA-Z0-9._%+-]+@[a-zA-Z0-9.-]+\.[a-zA-Z]{2,}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583680" y="2825496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282549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L2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06640" y="2825496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282549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《个人信息保护法》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4320" y="3264408"/>
            <a:ext cx="54864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C005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22960" y="3264408"/>
            <a:ext cx="100584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8680" y="326440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护照号码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28800" y="3264408"/>
            <a:ext cx="47548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74520" y="32644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[EeGg]\d{8}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583680" y="3264408"/>
            <a:ext cx="822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29400" y="326440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L3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06640" y="3264408"/>
            <a:ext cx="12801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52360" y="32644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《个人信息保护法》第28条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3703320"/>
            <a:ext cx="548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703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C006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22960" y="3703320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3703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军官证号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828800" y="3703320"/>
            <a:ext cx="4754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74520" y="3703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[A-Z]\d{7,9}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583680" y="3703320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29400" y="37033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L4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406640" y="370332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52360" y="3703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《个人信息保护法》第28条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74320" y="4142232"/>
            <a:ext cx="54864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1422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C007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22960" y="4142232"/>
            <a:ext cx="100584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414223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台胞证号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828800" y="4142232"/>
            <a:ext cx="47548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74520" y="41422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\d{8,10}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583680" y="4142232"/>
            <a:ext cx="822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29400" y="414223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L3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406640" y="4142232"/>
            <a:ext cx="12801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52360" y="41422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《个人信息保护法》第28条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74320" y="4581144"/>
            <a:ext cx="548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458114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C008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22960" y="4581144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68680" y="4581144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营业执照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828800" y="4581144"/>
            <a:ext cx="4754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74520" y="458114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9\d{13}|\d{15}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6583680" y="4581144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29400" y="4581144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L2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406640" y="4581144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452360" y="458114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《数据安全法》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第二阶段：13 个部门业务数据关键字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根据行业类型和企业实际业务，提炼针对性监控关键字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91440" cy="8229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89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研发部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5819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L4：源代码/芯片设计文件/工艺配方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912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L3：专利申请文件/测试数据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1234440"/>
            <a:ext cx="9144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1289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采购部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5819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L4：供应商底价/评标底价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64992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L3：供应商名单/采购方案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234440"/>
            <a:ext cx="9144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289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财务部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91072" y="15819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L4：高管薪酬/财务预算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91072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L3：财务报告/审计报告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1945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194560"/>
            <a:ext cx="9144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249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销售部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25420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L4：客户资产组合/投资策略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8912" y="27614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L3：客户名单/销售渠道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21945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2194560"/>
            <a:ext cx="9144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2249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生产部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4992" y="25420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L4：核心工艺/配方参数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64992" y="27614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L3：生产计划/物料清单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21945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2194560"/>
            <a:ext cx="91440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2249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人力资源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91072" y="25420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L4：高管信息/薪酬结构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91072" y="27614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L3：员工信息/考核数据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15468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3154680"/>
            <a:ext cx="91440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" y="3209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战略发展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35021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L4：战略规划/投决记录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8912" y="3721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L3：行业分析报告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0" y="315468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0" y="3154680"/>
            <a:ext cx="91440" cy="8229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40"/>
          <p:cNvSpPr/>
          <p:nvPr/>
        </p:nvSpPr>
        <p:spPr>
          <a:xfrm>
            <a:off x="3364992" y="3209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信息化部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64992" y="35021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L4：系统架构/核心源码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64992" y="3721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L3：运维手册/拓扑图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26480" y="315468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46" name="Shape 44"/>
          <p:cNvSpPr/>
          <p:nvPr/>
        </p:nvSpPr>
        <p:spPr>
          <a:xfrm>
            <a:off x="6126480" y="3154680"/>
            <a:ext cx="91440" cy="8229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7" name="Text 45"/>
          <p:cNvSpPr/>
          <p:nvPr/>
        </p:nvSpPr>
        <p:spPr>
          <a:xfrm>
            <a:off x="6291072" y="3209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法务部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91072" y="35021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L4：核心合同条款/仲裁方案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91072" y="3721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L3：合同模板/法规解读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11480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51" name="Shape 49"/>
          <p:cNvSpPr/>
          <p:nvPr/>
        </p:nvSpPr>
        <p:spPr>
          <a:xfrm>
            <a:off x="274320" y="4114800"/>
            <a:ext cx="9144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2" name="Text 50"/>
          <p:cNvSpPr/>
          <p:nvPr/>
        </p:nvSpPr>
        <p:spPr>
          <a:xfrm>
            <a:off x="438912" y="4169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市场部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38912" y="4462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L4：定价策略/竞争分析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38912" y="4681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L3：市场调研报告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00400" y="411480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56" name="Shape 54"/>
          <p:cNvSpPr/>
          <p:nvPr/>
        </p:nvSpPr>
        <p:spPr>
          <a:xfrm>
            <a:off x="3200400" y="4114800"/>
            <a:ext cx="9144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3364992" y="4169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质量管理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364992" y="4462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L4：核心质量标准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364992" y="4681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L3：检测方法/质量报告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26480" y="411480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4114800"/>
            <a:ext cx="9144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2" name="Text 60"/>
          <p:cNvSpPr/>
          <p:nvPr/>
        </p:nvSpPr>
        <p:spPr>
          <a:xfrm>
            <a:off x="6291072" y="4169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供应链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91072" y="4462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L4：核心供应商关系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291072" y="4681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L3：物流数据/库存策略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507492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66" name="Shape 64"/>
          <p:cNvSpPr/>
          <p:nvPr/>
        </p:nvSpPr>
        <p:spPr>
          <a:xfrm>
            <a:off x="274320" y="5074920"/>
            <a:ext cx="9144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438912" y="51297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行政办公室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38912" y="54223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L4：党委决议/人事安排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38912" y="56418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L3：公章使用记录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22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第三阶段：行为 × 内容融合策略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双维度精准定位，行为 + 内容都为敏感才触发，误报率最低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融合策略矩阵示意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 rot="16200000"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L4 核心商密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 rot="16200000">
            <a:off x="457200" y="231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 普通商密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 rot="16200000">
            <a:off x="457200" y="2804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L2 内部知悉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非工作时间行为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频繁外发行为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0" y="1463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私发邮箱行为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1737360"/>
            <a:ext cx="2240280" cy="44196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737360"/>
            <a:ext cx="224028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阻断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737360"/>
            <a:ext cx="2240280" cy="441960"/>
          </a:xfrm>
          <a:prstGeom prst="rect">
            <a:avLst/>
          </a:prstGeom>
          <a:solidFill>
            <a:srgbClr val="F43F5E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737360"/>
            <a:ext cx="224028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阻断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1737360"/>
            <a:ext cx="2240280" cy="441960"/>
          </a:xfrm>
          <a:prstGeom prst="rect">
            <a:avLst/>
          </a:prstGeom>
          <a:solidFill>
            <a:srgbClr val="F43F5E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737360"/>
            <a:ext cx="224028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阻断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2225040"/>
            <a:ext cx="2240280" cy="44196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225040"/>
            <a:ext cx="224028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审批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225040"/>
            <a:ext cx="2240280" cy="44196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225040"/>
            <a:ext cx="224028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审批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2225040"/>
            <a:ext cx="2240280" cy="441960"/>
          </a:xfrm>
          <a:prstGeom prst="rect">
            <a:avLst/>
          </a:prstGeom>
          <a:solidFill>
            <a:srgbClr val="F43F5E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2225040"/>
            <a:ext cx="224028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审批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2712720"/>
            <a:ext cx="2240280" cy="44196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2712720"/>
            <a:ext cx="224028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审批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2712720"/>
            <a:ext cx="2240280" cy="44196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2712720"/>
            <a:ext cx="224028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审批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2712720"/>
            <a:ext cx="2240280" cy="44196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2712720"/>
            <a:ext cx="2240280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弹窗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2011680"/>
            <a:ext cx="274320" cy="274320"/>
          </a:xfrm>
          <a:prstGeom prst="rect">
            <a:avLst/>
          </a:prstGeom>
          <a:solidFill>
            <a:srgbClr val="F43F5E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17804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阻断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63840" y="2011680"/>
            <a:ext cx="274320" cy="27432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18388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审批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869680" y="2011680"/>
            <a:ext cx="274320" cy="27432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18972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弹窗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246888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融合策略优势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2834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精准度最高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误报率最低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200条融合规则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支持自定义组合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22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核心商业秘密风险管控评分体系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两层决策：风险偏好确定上限，分值计算精细化执行动作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第一层：风险偏好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确定策略动作上限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激进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最高动作：阻断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平衡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最高动作：阻断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保守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最高动作：审批放行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第二层：分值计算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554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仅平衡偏好触发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分值 = 数据等级 × 行为风险 × 业务影响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331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数据等级：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2331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L1(1分) → L4(4分)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606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行为风险：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0" y="2606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低(1分) → 中(2分) → 高(3分)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业务影响：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2880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低(1分) → 中(2分) → 高(3分)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策略动作阈值（平衡偏好）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1828800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得分区间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77440" y="3840480"/>
            <a:ext cx="1828800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237744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策略动作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06240" y="3840480"/>
            <a:ext cx="1371600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动作级别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77840" y="3840480"/>
            <a:ext cx="2743200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典型场景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114800"/>
            <a:ext cx="1828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1148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27 ~ 36分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77440" y="4114800"/>
            <a:ext cx="1828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41148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阻断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06240" y="411480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41148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高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77840" y="4114800"/>
            <a:ext cx="27432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3560" y="41148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L4数据 + 高风险 + 高影响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8640" y="4370832"/>
            <a:ext cx="1828800" cy="23774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37083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9 ~ 26分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377440" y="4370832"/>
            <a:ext cx="1828800" cy="23774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23160" y="437083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审批放行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206240" y="4370832"/>
            <a:ext cx="1371600" cy="23774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43708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中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577840" y="4370832"/>
            <a:ext cx="2743200" cy="23774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0" y="437083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L3数据 + 中风险 + 中影响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48640" y="4626864"/>
            <a:ext cx="1828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462686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1 ~ 8分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377440" y="4626864"/>
            <a:ext cx="1828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23160" y="462686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弹窗警告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206240" y="462686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462686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低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577840" y="4626864"/>
            <a:ext cx="27432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23560" y="46268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L2数据 + 低风险 + 低影响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 / 22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数据安全建设三阶段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阶段不同，策略不同。循序渐进，避免一步到位带来的业务冲击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274320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087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前期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起步期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刚部署DLP/UEBA，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需先建基线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周期：约30天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策略动作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37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全部仅审计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工作重点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积累行为数据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建立基线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发现高风险行为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2651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91840" y="12801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1280160"/>
            <a:ext cx="27432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15087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中期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建设期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已建立基线，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开始精细化运营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65176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周期：约3-6个月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108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策略动作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333756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337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L4弹窗警告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L3以上审批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840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工作重点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4069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精细化阈值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关键字扩充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部门差异化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2651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217920" y="12801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1280160"/>
            <a:ext cx="2743200" cy="1371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9360" y="15087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43F5E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后期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80960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成熟期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0936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运营机制完善，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按规则严格执行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265176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周期：持续运营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3108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策略动作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333756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F43F5E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3337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按风险偏好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+分值阈值执行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3840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工作重点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4069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融合策略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精准阻断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效率优化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/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策略设计的法规依据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每条策略说明都应体现「依据《XX法》第XX条」，体现法有依据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9144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07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网络安全法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3075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2025修订 · 2026年1月1日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第21条：等级保护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第27条：禁止危害网络安全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第31条：关键信息基础设施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234440"/>
            <a:ext cx="91440" cy="10972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07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数据安全法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13075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2021 · 2021年9月1日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第21条：数据分类分级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第27条：全流程安全管理制度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第45条：违规处罚（最高50万）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514600"/>
            <a:ext cx="9144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87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个人信息保护法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587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2021 · 2021年11月1日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第28条：敏感个人信息定义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第51条：加密/去标识化措施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第66条：最高罚款营业额5%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51460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514600"/>
            <a:ext cx="9144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87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网络数据安全管理条例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0" y="2587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2025 · 2025年1月1日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0" y="2880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第10条：技术安全措施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第15条：数据安全负责人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第27条：数据出境安全评估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794760"/>
            <a:ext cx="9144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679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关键信息基础设施保护条例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8679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2021 · 2021年9月1日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4160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第4条：重点保护范围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第8条：设置安全管理机构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第12条：安全检测评估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 / 22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5 步从需求到策略表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3716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确认风险偏好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激进 / 平衡 / 保守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1分钟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1417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97480" y="13716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9456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收集企业信息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行业 / 阶段 / 组织架构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31089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3分钟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1880" y="1417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34840" y="13716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3192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精准化关键字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公司名+规章制度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31089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5分钟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9240" y="1417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72200" y="13716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生成策略表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三阶段策略设计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31089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2分钟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86600" y="1417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909560" y="13716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79095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0664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评分计算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分值+阈值+动作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89520" y="31089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1分钟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使用 WorkBuddy，说出触发词即可开始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"帮我设计研发部的数据安全防护策略"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"提取财务部门的敏感数据关键字"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"按保守风险偏好设计审批策略"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"设计非工作时间+USB+核心商密的融合策略"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 / 22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v2.0 新增：数据安全运营日报模块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策略设计完成后，进入运营阶段，输出可读的运营报告评估策略效果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411480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方案A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4813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文字粘贴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轻量模式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用户直接粘贴告警日志片段、聊天记录、部分表格数据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读取文字内容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371600" y="2514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08760" y="24688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识别关键字段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2514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24688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风险分类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00400" y="2514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4688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输出日报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436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触发词："帮我整理日报"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28016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1280160"/>
            <a:ext cx="411480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15087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方案B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14813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文件上传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完整模式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上传原始告警日志文件（CSV/Excel/JSON/TXT）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4688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读取文件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669280" y="2514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24688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80644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自动识别格式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583680" y="2514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24688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字段映射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498080" y="2514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35240" y="24688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63524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生成报告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89204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触发词："上传日志文件"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7033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运营日报结构（7个部分）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41605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16052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防护范围概览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783080" y="41605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1783080" y="416052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整体运营情况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926080" y="41605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926080" y="416052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重点风险事件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069080" y="41605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069080" y="416052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部门分布分析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212080" y="41605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0" y="416052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趋势对比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355080" y="41605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355080" y="416052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处置建议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498080" y="41605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7498080" y="416052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附录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 / 22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适用产品与数据格式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支持多种 DLP/UEBA 产品的告警日志解析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奇安信 DLP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23160" y="1481328"/>
            <a:ext cx="548640" cy="228600"/>
          </a:xfrm>
          <a:prstGeom prst="roundRect">
            <a:avLst>
              <a:gd name="adj" fmla="val 12000"/>
            </a:avLst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48132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国内头部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支持CSV/Excel/JSON/TXT格式导入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安天 DLP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57800" y="1481328"/>
            <a:ext cx="548640" cy="228600"/>
          </a:xfrm>
          <a:prstGeom prst="roundRect">
            <a:avLst>
              <a:gd name="adj" fmla="val 12000"/>
            </a:avLst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148132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国内头部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支持CSV/Excel/JSON/TXT格式导入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天空卫士 DLP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2440" y="1481328"/>
            <a:ext cx="548640" cy="228600"/>
          </a:xfrm>
          <a:prstGeom prst="roundRect">
            <a:avLst>
              <a:gd name="adj" fmla="val 12000"/>
            </a:avLst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48132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国内头部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26364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支持CSV/Excel/JSON/TXT格式导入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Symantec DLP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423160" y="2304288"/>
            <a:ext cx="548640" cy="2286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23042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国际厂商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94360" y="2560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支持CSV/Excel/JSON/TXT格式导入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1945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微软 Purview DLP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57800" y="2304288"/>
            <a:ext cx="548640" cy="2286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23042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国际厂商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429000" y="2560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支持CSV/Excel/JSON/TXT格式导入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21945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定制化/自研平台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92440" y="2304288"/>
            <a:ext cx="548640" cy="2286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23042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其他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263640" y="2560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支持CSV/Excel/JSON/TXT格式导入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20040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统一映射到 11 个标准字段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37033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" y="37490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05840" y="3703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用户/发件人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51760" y="37033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697480" y="37490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269748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017520" y="3703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时间/发件时间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7033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709160" y="37490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7" name="Text 45"/>
          <p:cNvSpPr/>
          <p:nvPr/>
        </p:nvSpPr>
        <p:spPr>
          <a:xfrm>
            <a:off x="470916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9200" y="3703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外发通道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75120" y="37033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720840" y="37490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1" name="Text 49"/>
          <p:cNvSpPr/>
          <p:nvPr/>
        </p:nvSpPr>
        <p:spPr>
          <a:xfrm>
            <a:off x="672084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40880" y="3703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命中策略名称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" y="42062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685800" y="425196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05840" y="4206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命中关键词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651760" y="42062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2697480" y="425196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9" name="Text 57"/>
          <p:cNvSpPr/>
          <p:nvPr/>
        </p:nvSpPr>
        <p:spPr>
          <a:xfrm>
            <a:off x="269748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017520" y="4206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文件名/邮件附件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63440" y="42062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4709160" y="425196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3" name="Text 61"/>
          <p:cNvSpPr/>
          <p:nvPr/>
        </p:nvSpPr>
        <p:spPr>
          <a:xfrm>
            <a:off x="470916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07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029200" y="4206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目标邮箱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675120" y="42062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6720840" y="425196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7" name="Text 65"/>
          <p:cNvSpPr/>
          <p:nvPr/>
        </p:nvSpPr>
        <p:spPr>
          <a:xfrm>
            <a:off x="672084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08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040880" y="4206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风险等级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0080" y="470916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685800" y="475488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1" name="Text 69"/>
          <p:cNvSpPr/>
          <p:nvPr/>
        </p:nvSpPr>
        <p:spPr>
          <a:xfrm>
            <a:off x="6858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09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005840" y="4709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策略分值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651760" y="470916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2697480" y="475488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5" name="Text 73"/>
          <p:cNvSpPr/>
          <p:nvPr/>
        </p:nvSpPr>
        <p:spPr>
          <a:xfrm>
            <a:off x="269748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017520" y="4709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建议动作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663440" y="470916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4709160" y="475488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9" name="Text 77"/>
          <p:cNvSpPr/>
          <p:nvPr/>
        </p:nvSpPr>
        <p:spPr>
          <a:xfrm>
            <a:off x="470916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029200" y="4709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疑似违规详情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14 / 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面向不同人群的使用效果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109728" cy="16459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安全管理员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痛点：策略配置复杂，不知从何下手？331条策略+评分体系，直接套用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</a:rPr>
              <a:t>✓ 5分钟生成部门策略表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</a:rPr>
              <a:t>✓ 法规依据自动标注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</a:rPr>
              <a:t>✓ 分阶段推进不迷茫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10972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IT 负责人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痛点：部门需求多，沟通成本高？输出标准化策略表，直接评审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✓ 结构化策略输出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✓ 两段式说明（选择依据+设置依据）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✓ 支持飞书/Excel多格式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108960"/>
            <a:ext cx="109728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00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合规负责人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566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痛点：监管检查如何证明策略有效性？日报模块量化运营成果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023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运营日报自动生成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处置建议直接落地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版本更新记录可追溯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108960"/>
            <a:ext cx="109728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200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安全厂商售前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566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痛点：POC方案如何快速产出差异化价值？方法论+工具双重背书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4023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</a:rPr>
              <a:t>✓ 《以人为本》方法论支撑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</a:rPr>
              <a:t>✓ 431条策略库快速配置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</a:rPr>
              <a:t>✓ 评分体系增强专业感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 / 22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项目文件结构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data-security-policy-generator/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SKILL.md                              # 技能主文件（AI 读取的指令）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                   # 产品说明文档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references/                           # 参考资料目录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01_strategy_catalog.md           # 策略目录示例（预览）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02_department_mapping.md         # 部门×策略适用性矩阵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03_legal_framework.md            # 数据安全法规手册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04_bu_keywords.md                # BU关键字字典示例（预览）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05_keyword_taxonomy.md           # 扩充字典示例（预览）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api_reference.md                  # DLP/UEBA API 对接参考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SOP/                                 # 标准操作流程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01_mvp_strategy.md              # MVP 策略设计流程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02_business_data_extract.md     # 业务数据关键字提取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03_fusion_strategy.md           # 融合策略设计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04_scoring_system.md            # 策略评分体系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scripts/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__pycache__/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strategy_lib.cpython-313.pyc  # 🔒 加密策略库（431条策略）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 / 22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版本更新记录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版本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8720" y="1188720"/>
            <a:ext cx="10058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188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日期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502920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变更内容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23760" y="1188720"/>
            <a:ext cx="10972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类型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731520" cy="50292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508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v2.1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88720" y="1508760"/>
            <a:ext cx="1005840" cy="50292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1508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2026-04-23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1508760"/>
            <a:ext cx="5029200" cy="50292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15087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新增禁止原始数据查询条款，保护人员隐私信息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1508760"/>
            <a:ext cx="1097280" cy="50292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5087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小功能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057400"/>
            <a:ext cx="731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v2.0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88720" y="2057400"/>
            <a:ext cx="1005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20574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2026-04-23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94560" y="2057400"/>
            <a:ext cx="5029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2057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大功能升级：新增运营日报模块（方案A文字/方案B文件）；新增报告脱敏规则；新增版本规范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205740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2057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</a:rPr>
              <a:t>大功能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606040"/>
            <a:ext cx="7315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606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v1.3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88720" y="2606040"/>
            <a:ext cx="10058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2026-04-23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94560" y="2606040"/>
            <a:ext cx="50292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26060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修正报告脱敏规则，区分公司名称（可脱敏）与人员行为信息（需保留）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3760" y="2606040"/>
            <a:ext cx="10972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606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优化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154680"/>
            <a:ext cx="731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154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v1.2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88720" y="3154680"/>
            <a:ext cx="1005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3444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2026-04-23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94560" y="3154680"/>
            <a:ext cx="5029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3154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新增行为基线四原则（数据透明/同事语气/时间核查/错误响应）；新增策略评分体系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315468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3154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新增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703320"/>
            <a:ext cx="7315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703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v1.1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188720" y="3703320"/>
            <a:ext cx="10058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34440" y="3703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2026-04-23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194560" y="3703320"/>
            <a:ext cx="50292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40280" y="3703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内置策略库加密处理；新增示例预览文件；触发词优化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23760" y="3703320"/>
            <a:ext cx="10972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3703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优化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251960"/>
            <a:ext cx="731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251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v1.0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188720" y="4251960"/>
            <a:ext cx="1005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34440" y="4251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2026-04-23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94560" y="4251960"/>
            <a:ext cx="5029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40280" y="42519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初始版本：三阶段策略设计框架；331条行为管控策略；200条融合策略；13个部门关键字映射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223760" y="425196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4251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初始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4846320"/>
            <a:ext cx="8229600" cy="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61" name="Text 5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17 / 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核心术语速查表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DLP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307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Data Loss Prevention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5819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数据防泄漏，通过策略检测和阻止敏感数据外发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32588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UEBA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307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User and Entity Behavior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15819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用户和实体行为分析，通过行为异常检测发现风险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0574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057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20391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核心商密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23134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泄露后会对企业造成严重损害的数据，如战略规划、高管薪酬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20574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057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20391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普通商密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23134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具有商业价值但泄露影响有限的数据，如客户名单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9748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78892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88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80160" y="27706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内部知悉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30449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仅限内部使用，泄露后影响可控的数据，如项目进度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69748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278892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788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27706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公开信息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30449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可对外公开的数据，无需特别管控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42900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52044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R策略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80160" y="35021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规则型策略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80160" y="37764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基于时间/频率/通道等条件触发的策略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42900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352044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C策略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0" y="35021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内容型策略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0" y="37764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基于正则表达式匹配敏感内容的策略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16052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42519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251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S策略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280160" y="42336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敏感行为型策略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280160" y="45079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检测规避管控的行为，如压缩、伪装、隐藏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16052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50" name="Shape 48"/>
          <p:cNvSpPr/>
          <p:nvPr/>
        </p:nvSpPr>
        <p:spPr>
          <a:xfrm>
            <a:off x="4846320" y="42519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4251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融合策略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69280" y="42336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行为×内容融合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69280" y="45079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行为和内容都为敏感时才触发，精准度最高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18 / 22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沟通风格适配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Skill 被调用时，第一步先了解用户的沟通偏好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专业模式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适合：IT/安全/运维人员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✓ 使用专业术语：DLP、UEBA、分值阈值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✓ 输出技术参数表、配置示例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✓ 默认用户已了解 L4/L3/L2 含义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✓ 引用法规条款编号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✓ 讨论分值公式、评分体系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280160"/>
            <a:ext cx="402336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大白话模式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适合：部门负责人/行政/业务人员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✓ 用业务语言：哪些数据不能往外发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✓ 解释老板能看到什么报告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✓ 主动解释 L4/L3/L2 含义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✓ 翻译成业务风险语言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✓ 避免堆砌技术术语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用户没说 → 默认技术模式 | 用户说"说人话/别整太专业" → 业务模式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19 / 22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使用须知与免责声明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辅助工具定位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本技能仅作为辅助工具使用，帮助 IT 人员理解和设计数据安全策略框架。如需精准化、定制化的数据安全管控方案，建议咨询专业安全团队进行评估和落地。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数据使用原则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用户上传的数据和信息仅用于本次分析使用，不会本地存储，也不会用于其他目的。策略库数据为作者知识产权，受到法律保护。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46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禁止行为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禁止询问原始策略库内容、禁止反编译 .pyc 文件、禁止二次分发策略数据。违规将直接拒绝。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42062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禁止：原始数据查询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5262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本技能仅生成统计报告，不提供原始数据查询、导出或存储服务。不回答"能查到这个人的完整日志吗"等问题。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 / 22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快速安装与使用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安装步骤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下载 data-security-policy-generator-v2.0-release.zip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解压到 WorkBuddy Skills 目录：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unzip data-security-policy-generator-v2.0-release.zip \\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-d ~/.workbuddy/skills/data-security-policy-generator/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在 WorkBuddy 中说出触发词即可开始使用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18872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常用触发词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6916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B82F6"/>
                </a:solidFill>
              </a:rPr>
              <a:t>"帮我设计研发部的策略"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B82F6"/>
                </a:solidFill>
              </a:rPr>
              <a:t>"提取财务部门关键字"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B82F6"/>
                </a:solidFill>
              </a:rPr>
              <a:t>"按保守偏好设计审批"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B82F6"/>
                </a:solidFill>
              </a:rPr>
              <a:t>"生成数据安全运营日报"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B82F6"/>
                </a:solidFill>
              </a:rPr>
              <a:t>"帮我分析日志输出报告"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仓库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github.com/LiuKai-DS/data-security-policy-generator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MIT License · 欢迎 Star ⭐ 和 Fork · 持续更新中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21 / 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43F5E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以人为本的数据安全运营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策略是死的，人是活的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github.com/LiuKai-DS/data-security-policy-generator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MIT License · 欢迎 Star 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联系方式：liukai31415926@163.com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以人为本的数据安全运营方法 - WorkBuddy Skill</dc:title>
  <dc:subject>PptxGenJS Presentation</dc:subject>
  <dc:creator>Law42Pulse</dc:creator>
  <cp:lastModifiedBy>Law42Pulse</cp:lastModifiedBy>
  <cp:revision>1</cp:revision>
  <dcterms:created xsi:type="dcterms:W3CDTF">2026-04-23T07:45:45Z</dcterms:created>
  <dcterms:modified xsi:type="dcterms:W3CDTF">2026-04-23T07:45:45Z</dcterms:modified>
</cp:coreProperties>
</file>